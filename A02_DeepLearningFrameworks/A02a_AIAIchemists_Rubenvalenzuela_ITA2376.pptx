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3208000" cy="7429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7" d="100"/>
          <a:sy n="77" d="100"/>
        </p:scale>
        <p:origin x="449" y="27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oundRect">
            <a:avLst>
              <a:gd name="adj" fmla="val 2735"/>
            </a:avLst>
          </a:prstGeom>
        </p:spPr>
      </p:pic>
      <p:sp>
        <p:nvSpPr>
          <p:cNvPr id="5" name="TextBox 5"/>
          <p:cNvSpPr txBox="1"/>
          <p:nvPr/>
        </p:nvSpPr>
        <p:spPr>
          <a:xfrm>
            <a:off x="711200" y="2514600"/>
            <a:ext cx="11823700" cy="152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4000" b="1">
                <a:solidFill>
                  <a:srgbClr val="000000"/>
                </a:solidFill>
                <a:latin typeface="Poppins"/>
              </a:rPr>
              <a:t>Comparative Analysis: TensorFlow vs PyTorch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711200" y="4279900"/>
            <a:ext cx="118237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000000"/>
                </a:solidFill>
                <a:latin typeface="Poppins"/>
              </a:rPr>
              <a:t>ITAI-2376 Deep Learning Artificial Intelligence | Group: AI </a:t>
            </a:r>
            <a:r>
              <a:rPr lang="en-US" sz="1600" b="1" dirty="0" err="1">
                <a:solidFill>
                  <a:srgbClr val="000000"/>
                </a:solidFill>
                <a:latin typeface="Poppins"/>
              </a:rPr>
              <a:t>AIchemists</a:t>
            </a:r>
            <a:r>
              <a:rPr lang="en-US" sz="1600" b="1" dirty="0">
                <a:solidFill>
                  <a:srgbClr val="000000"/>
                </a:solidFill>
                <a:latin typeface="Poppins"/>
              </a:rPr>
              <a:t> | Team Members: Ruben Valenzuela, Daedra </a:t>
            </a:r>
            <a:r>
              <a:rPr lang="en-US" sz="1600" b="1" dirty="0" err="1">
                <a:solidFill>
                  <a:srgbClr val="000000"/>
                </a:solidFill>
                <a:latin typeface="Poppins"/>
              </a:rPr>
              <a:t>Minigan</a:t>
            </a:r>
            <a:r>
              <a:rPr lang="en-US" sz="1600" b="1" dirty="0">
                <a:solidFill>
                  <a:srgbClr val="000000"/>
                </a:solidFill>
                <a:latin typeface="Poppins"/>
              </a:rPr>
              <a:t>, Benjamin LaCount II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664200" y="723900"/>
            <a:ext cx="6896100" cy="595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5664200" y="723900"/>
            <a:ext cx="68961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5664200" y="2311400"/>
            <a:ext cx="68961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664200" y="3898900"/>
            <a:ext cx="68961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5664200" y="5473700"/>
            <a:ext cx="68961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11200" y="3340100"/>
            <a:ext cx="44196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4800" b="1">
                <a:solidFill>
                  <a:srgbClr val="095F7C"/>
                </a:solidFill>
                <a:latin typeface="Poppins"/>
              </a:rPr>
              <a:t>Agenda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5664200" y="723900"/>
            <a:ext cx="6896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95F7C"/>
                </a:solidFill>
                <a:latin typeface="Poppins"/>
              </a:rPr>
              <a:t>01. Framework Introduction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5664200" y="2311400"/>
            <a:ext cx="6896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95F7C"/>
                </a:solidFill>
                <a:latin typeface="Poppins"/>
              </a:rPr>
              <a:t>02. Background Analysis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664200" y="3898900"/>
            <a:ext cx="6896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95F7C"/>
                </a:solidFill>
                <a:latin typeface="Poppins"/>
              </a:rPr>
              <a:t>03. Features &amp; Applications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664200" y="5473700"/>
            <a:ext cx="6896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95F7C"/>
                </a:solidFill>
                <a:latin typeface="Poppins"/>
              </a:rPr>
              <a:t>04. Comparative Conclusion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664200" y="1333500"/>
            <a:ext cx="68961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Importance of deep learning frameworks and why TensorFlow vs PyTorch comparison matters.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5664200" y="2908300"/>
            <a:ext cx="68961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Origins, development history, and design philosophy of both frameworks from Google and Meta.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5664200" y="4495800"/>
            <a:ext cx="68961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Key technical features, real-world implementations, and industry adoption patterns for each framework.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5664200" y="6070600"/>
            <a:ext cx="68961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Comprehensive analysis, performance comparison, and recommendations for different use cases and scenarios.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358900"/>
            <a:ext cx="11823700" cy="157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1358900"/>
            <a:ext cx="11823700" cy="1574800"/>
          </a:xfrm>
          <a:prstGeom prst="roundRect">
            <a:avLst>
              <a:gd name="adj" fmla="val 4032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3162300"/>
            <a:ext cx="11823700" cy="3708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711200" y="3162300"/>
            <a:ext cx="3797300" cy="3708400"/>
          </a:xfrm>
          <a:prstGeom prst="roundRect">
            <a:avLst>
              <a:gd name="adj" fmla="val 1712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2311400" y="3365500"/>
            <a:ext cx="609600" cy="584200"/>
          </a:xfrm>
          <a:prstGeom prst="roundRect">
            <a:avLst>
              <a:gd name="adj" fmla="val 50000"/>
            </a:avLst>
          </a:prstGeom>
          <a:solidFill>
            <a:srgbClr val="095F7C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724400" y="3162300"/>
            <a:ext cx="3797300" cy="3708400"/>
          </a:xfrm>
          <a:prstGeom prst="roundRect">
            <a:avLst>
              <a:gd name="adj" fmla="val 1712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6324600" y="3365500"/>
            <a:ext cx="609600" cy="584200"/>
          </a:xfrm>
          <a:prstGeom prst="roundRect">
            <a:avLst>
              <a:gd name="adj" fmla="val 50000"/>
            </a:avLst>
          </a:prstGeom>
          <a:solidFill>
            <a:srgbClr val="095F7C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737600" y="3162300"/>
            <a:ext cx="3797300" cy="3708400"/>
          </a:xfrm>
          <a:prstGeom prst="roundRect">
            <a:avLst>
              <a:gd name="adj" fmla="val 1712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0337800" y="3365500"/>
            <a:ext cx="609600" cy="584200"/>
          </a:xfrm>
          <a:prstGeom prst="roundRect">
            <a:avLst>
              <a:gd name="adj" fmla="val 50000"/>
            </a:avLst>
          </a:prstGeom>
          <a:solidFill>
            <a:srgbClr val="095F7C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711200" y="533400"/>
            <a:ext cx="118237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100" b="1">
                <a:solidFill>
                  <a:srgbClr val="095F7C"/>
                </a:solidFill>
                <a:latin typeface="Poppins"/>
              </a:rPr>
              <a:t>Introduction: Deep Learning Frameworks Landscape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27100" y="1562100"/>
            <a:ext cx="113919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95F7C"/>
                </a:solidFill>
                <a:latin typeface="Poppins"/>
              </a:rPr>
              <a:t>Why Framework Selection Matters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927100" y="4152900"/>
            <a:ext cx="33782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95F7C"/>
                </a:solidFill>
                <a:latin typeface="Poppins"/>
              </a:rPr>
              <a:t>Market Leadership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940300" y="4152900"/>
            <a:ext cx="33782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95F7C"/>
                </a:solidFill>
                <a:latin typeface="Poppins"/>
              </a:rPr>
              <a:t>Innovation Drivers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953500" y="4152900"/>
            <a:ext cx="33782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95F7C"/>
                </a:solidFill>
                <a:latin typeface="Poppins"/>
              </a:rPr>
              <a:t>Community Impact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927100" y="2146300"/>
            <a:ext cx="113919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Deep learning frameworks serve as the foundation for AI development, providing essential tools for model creation, training, and deployment across diverse applications and industries.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927100" y="4610100"/>
            <a:ext cx="3378200" cy="205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TensorFlow and PyTorch dominate the deep learning ecosystem, collectively representing over 70% of framework adoption in both research and industry applications.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4940300" y="4610100"/>
            <a:ext cx="3378200" cy="205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Both frameworks continuously push boundaries in AI development, offering unique approaches to model design, training optimization, and production deployment strategies.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953500" y="4610100"/>
            <a:ext cx="3378200" cy="176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Large developer communities, extensive documentation, and robust ecosystems make these frameworks the go-to choice for researchers and practitioners worldwide.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 t="6000" b="6000"/>
          <a:stretch>
            <a:fillRect/>
          </a:stretch>
        </p:blipFill>
        <p:spPr>
          <a:xfrm>
            <a:off x="2501900" y="3568700"/>
            <a:ext cx="228600" cy="203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27800" y="3568700"/>
            <a:ext cx="203200" cy="203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rcRect t="10000" b="10000"/>
          <a:stretch>
            <a:fillRect/>
          </a:stretch>
        </p:blipFill>
        <p:spPr>
          <a:xfrm>
            <a:off x="10515600" y="3568700"/>
            <a:ext cx="2540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219200"/>
            <a:ext cx="6896100" cy="193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1219200"/>
            <a:ext cx="6896100" cy="1930400"/>
          </a:xfrm>
          <a:prstGeom prst="roundRect">
            <a:avLst>
              <a:gd name="adj" fmla="val 3289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3352800"/>
            <a:ext cx="6896100" cy="3581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711200" y="3352800"/>
            <a:ext cx="3340100" cy="3581400"/>
          </a:xfrm>
          <a:prstGeom prst="roundRect">
            <a:avLst>
              <a:gd name="adj" fmla="val 1901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927100" y="3530600"/>
            <a:ext cx="609600" cy="520700"/>
          </a:xfrm>
          <a:prstGeom prst="roundRect">
            <a:avLst>
              <a:gd name="adj" fmla="val 50000"/>
            </a:avLst>
          </a:prstGeom>
          <a:solidFill>
            <a:srgbClr val="095F7C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267200" y="3352800"/>
            <a:ext cx="3340100" cy="3581400"/>
          </a:xfrm>
          <a:prstGeom prst="roundRect">
            <a:avLst>
              <a:gd name="adj" fmla="val 1901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4483100" y="3530600"/>
            <a:ext cx="609600" cy="520700"/>
          </a:xfrm>
          <a:prstGeom prst="roundRect">
            <a:avLst>
              <a:gd name="adj" fmla="val 50000"/>
            </a:avLst>
          </a:prstGeom>
          <a:solidFill>
            <a:srgbClr val="095F7C"/>
          </a:solidFill>
        </p:spPr>
        <p:txBody>
          <a:bodyPr/>
          <a:lstStyle/>
          <a:p>
            <a:endParaRPr lang="en-US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t="5000" b="5000"/>
          <a:stretch>
            <a:fillRect/>
          </a:stretch>
        </p:blipFill>
        <p:spPr>
          <a:xfrm>
            <a:off x="8128000" y="2095500"/>
            <a:ext cx="3784600" cy="1930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14000" b="14000"/>
          <a:stretch>
            <a:fillRect/>
          </a:stretch>
        </p:blipFill>
        <p:spPr>
          <a:xfrm>
            <a:off x="8128000" y="4127500"/>
            <a:ext cx="3784600" cy="1930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711200" y="482600"/>
            <a:ext cx="11823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95F7C"/>
                </a:solidFill>
                <a:latin typeface="Poppins"/>
              </a:rPr>
              <a:t>Background: TensorFlow Framework Overview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27100" y="1397000"/>
            <a:ext cx="64643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95F7C"/>
                </a:solidFill>
                <a:latin typeface="Poppins"/>
              </a:rPr>
              <a:t>Google's Deep Learning Pioneer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927100" y="4241800"/>
            <a:ext cx="29083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700" b="1">
                <a:solidFill>
                  <a:srgbClr val="095F7C"/>
                </a:solidFill>
                <a:latin typeface="Poppins"/>
              </a:rPr>
              <a:t>Production Focus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483100" y="4241800"/>
            <a:ext cx="29083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700" b="1">
                <a:solidFill>
                  <a:srgbClr val="095F7C"/>
                </a:solidFill>
                <a:latin typeface="Poppins"/>
              </a:rPr>
              <a:t>Ecosystem Strength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927100" y="1917700"/>
            <a:ext cx="6464300" cy="105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TensorFlow, launched by Google Brain in 2015, revolutionized the deep learning landscape with its scalable, production-ready architecture designed for enterprise deployment and large-scale applications.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927100" y="4648200"/>
            <a:ext cx="2908300" cy="2108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Built with enterprise scalability in mind, TensorFlow excels in industrial environments requiring robust deployment, monitoring, and maintenance of AI models at scale.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483100" y="4648200"/>
            <a:ext cx="2908300" cy="2108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Backed by Google's infrastructure and supported by both academic and corporate communities, creating a comprehensive ecosystem for AI development and deployment.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rcRect t="6000" b="6000"/>
          <a:stretch>
            <a:fillRect/>
          </a:stretch>
        </p:blipFill>
        <p:spPr>
          <a:xfrm>
            <a:off x="1117600" y="3708400"/>
            <a:ext cx="228600" cy="203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rcRect t="10000" b="10000"/>
          <a:stretch>
            <a:fillRect/>
          </a:stretch>
        </p:blipFill>
        <p:spPr>
          <a:xfrm>
            <a:off x="4660900" y="3708400"/>
            <a:ext cx="2540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219200"/>
            <a:ext cx="6896100" cy="193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1219200"/>
            <a:ext cx="6896100" cy="1930400"/>
          </a:xfrm>
          <a:prstGeom prst="roundRect">
            <a:avLst>
              <a:gd name="adj" fmla="val 3289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3352800"/>
            <a:ext cx="6896100" cy="3581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711200" y="3352800"/>
            <a:ext cx="3340100" cy="3581400"/>
          </a:xfrm>
          <a:prstGeom prst="roundRect">
            <a:avLst>
              <a:gd name="adj" fmla="val 1901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927100" y="3530600"/>
            <a:ext cx="609600" cy="520700"/>
          </a:xfrm>
          <a:prstGeom prst="roundRect">
            <a:avLst>
              <a:gd name="adj" fmla="val 50000"/>
            </a:avLst>
          </a:prstGeom>
          <a:solidFill>
            <a:srgbClr val="095F7C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267200" y="3352800"/>
            <a:ext cx="3340100" cy="3581400"/>
          </a:xfrm>
          <a:prstGeom prst="roundRect">
            <a:avLst>
              <a:gd name="adj" fmla="val 1901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4483100" y="3530600"/>
            <a:ext cx="609600" cy="520700"/>
          </a:xfrm>
          <a:prstGeom prst="roundRect">
            <a:avLst>
              <a:gd name="adj" fmla="val 50000"/>
            </a:avLst>
          </a:prstGeom>
          <a:solidFill>
            <a:srgbClr val="095F7C"/>
          </a:solidFill>
        </p:spPr>
        <p:txBody>
          <a:bodyPr/>
          <a:lstStyle/>
          <a:p>
            <a:endParaRPr lang="en-US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t="19000" b="19000"/>
          <a:stretch>
            <a:fillRect/>
          </a:stretch>
        </p:blipFill>
        <p:spPr>
          <a:xfrm>
            <a:off x="8128000" y="2095500"/>
            <a:ext cx="3784600" cy="1930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12000" b="12000"/>
          <a:stretch>
            <a:fillRect/>
          </a:stretch>
        </p:blipFill>
        <p:spPr>
          <a:xfrm>
            <a:off x="8128000" y="4127500"/>
            <a:ext cx="3784600" cy="1930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711200" y="482600"/>
            <a:ext cx="11823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95F7C"/>
                </a:solidFill>
                <a:latin typeface="Poppins"/>
              </a:rPr>
              <a:t>Background: PyTorch Framework Overview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27100" y="1397000"/>
            <a:ext cx="64643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95F7C"/>
                </a:solidFill>
                <a:latin typeface="Poppins"/>
              </a:rPr>
              <a:t>Meta's Research-First Approach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927100" y="4241800"/>
            <a:ext cx="29083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700" b="1">
                <a:solidFill>
                  <a:srgbClr val="095F7C"/>
                </a:solidFill>
                <a:latin typeface="Poppins"/>
              </a:rPr>
              <a:t>Research Excellence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483100" y="4241800"/>
            <a:ext cx="29083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700" b="1">
                <a:solidFill>
                  <a:srgbClr val="095F7C"/>
                </a:solidFill>
                <a:latin typeface="Poppins"/>
              </a:rPr>
              <a:t>Pythonic Design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927100" y="1917700"/>
            <a:ext cx="6464300" cy="105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PyTorch, developed by Facebook AI Research in 2016, prioritizes flexibility and intuitive design, enabling rapid experimentation and prototyping with its dynamic computational graph architecture.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927100" y="4648200"/>
            <a:ext cx="2908300" cy="2108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Designed for fast experimentation, PyTorch dominates academic research with 80% adoption in NeurIPS 2023 papers, making it the preferred choice for cutting-edge AI research.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483100" y="4648200"/>
            <a:ext cx="2908300" cy="184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Features intuitive, Python-native syntax and dynamic computation graphs that allow developers to modify networks on-the-fly, enhancing debugging and development speed.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rcRect l="7000" r="7000"/>
          <a:stretch>
            <a:fillRect/>
          </a:stretch>
        </p:blipFill>
        <p:spPr>
          <a:xfrm>
            <a:off x="1143000" y="3708400"/>
            <a:ext cx="177800" cy="203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rcRect t="10000" b="10000"/>
          <a:stretch>
            <a:fillRect/>
          </a:stretch>
        </p:blipFill>
        <p:spPr>
          <a:xfrm>
            <a:off x="4660900" y="3708400"/>
            <a:ext cx="2540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155700"/>
            <a:ext cx="11823700" cy="580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1155700"/>
            <a:ext cx="3771900" cy="580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1155700"/>
            <a:ext cx="3771900" cy="5803900"/>
          </a:xfrm>
          <a:prstGeom prst="roundRect">
            <a:avLst>
              <a:gd name="adj" fmla="val 1683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927100" y="3060700"/>
            <a:ext cx="3340100" cy="3721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737100" y="1155700"/>
            <a:ext cx="3771900" cy="580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737100" y="1155700"/>
            <a:ext cx="3771900" cy="5803900"/>
          </a:xfrm>
          <a:prstGeom prst="roundRect">
            <a:avLst>
              <a:gd name="adj" fmla="val 1683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4953000" y="3060700"/>
            <a:ext cx="3340100" cy="3721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775700" y="1155700"/>
            <a:ext cx="3771900" cy="580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75700" y="1155700"/>
            <a:ext cx="3771900" cy="5803900"/>
          </a:xfrm>
          <a:prstGeom prst="roundRect">
            <a:avLst>
              <a:gd name="adj" fmla="val 1683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978900" y="3060700"/>
            <a:ext cx="3340100" cy="3721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927100" y="1320800"/>
            <a:ext cx="2705100" cy="1524000"/>
          </a:xfrm>
          <a:prstGeom prst="roundRect">
            <a:avLst>
              <a:gd name="adj" fmla="val 4166"/>
            </a:avLst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t="7000" b="7000"/>
          <a:stretch>
            <a:fillRect/>
          </a:stretch>
        </p:blipFill>
        <p:spPr>
          <a:xfrm>
            <a:off x="4953000" y="1320800"/>
            <a:ext cx="2705100" cy="1524000"/>
          </a:xfrm>
          <a:prstGeom prst="roundRect">
            <a:avLst>
              <a:gd name="adj" fmla="val 4166"/>
            </a:avLst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rcRect l="5000" r="5000"/>
          <a:stretch>
            <a:fillRect/>
          </a:stretch>
        </p:blipFill>
        <p:spPr>
          <a:xfrm>
            <a:off x="8978900" y="1320800"/>
            <a:ext cx="2705100" cy="1524000"/>
          </a:xfrm>
          <a:prstGeom prst="roundRect">
            <a:avLst>
              <a:gd name="adj" fmla="val 4166"/>
            </a:avLst>
          </a:prstGeom>
        </p:spPr>
      </p:pic>
      <p:sp>
        <p:nvSpPr>
          <p:cNvPr id="17" name="TextBox 17"/>
          <p:cNvSpPr txBox="1"/>
          <p:nvPr/>
        </p:nvSpPr>
        <p:spPr>
          <a:xfrm>
            <a:off x="711200" y="457200"/>
            <a:ext cx="118237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00" b="1">
                <a:solidFill>
                  <a:srgbClr val="095F7C"/>
                </a:solidFill>
                <a:latin typeface="Poppins"/>
              </a:rPr>
              <a:t>TensorFlow: Key Features and Capabilities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927100" y="4000500"/>
            <a:ext cx="33401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95F7C"/>
                </a:solidFill>
                <a:latin typeface="Poppins"/>
              </a:rPr>
              <a:t>Production Scalability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953000" y="4000500"/>
            <a:ext cx="33401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95F7C"/>
                </a:solidFill>
                <a:latin typeface="Poppins"/>
              </a:rPr>
              <a:t>Comprehensive Ecosystem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978900" y="4000500"/>
            <a:ext cx="33401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95F7C"/>
                </a:solidFill>
                <a:latin typeface="Poppins"/>
              </a:rPr>
              <a:t>Hardware Optimization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927100" y="3060700"/>
            <a:ext cx="33401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Enterprise-grade scalability for production environments and large-scale deployments.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30300" y="4787900"/>
            <a:ext cx="31369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TensorFlow Serving for model deployment infrastructure.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30300" y="5410200"/>
            <a:ext cx="31369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TensorFlow Lite optimized for mobile applications.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130300" y="6045200"/>
            <a:ext cx="31369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Distributed training across multiple GPUs clusters.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4953000" y="3060700"/>
            <a:ext cx="33401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Rich ecosystem of integrated tools and libraries for comprehensive development.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5156200" y="4787900"/>
            <a:ext cx="31369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Keras integration provides high-level API simplicity.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5156200" y="5410200"/>
            <a:ext cx="31369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TensorBoard for advanced model visualization tools.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5156200" y="6045200"/>
            <a:ext cx="31369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TFX pipeline for end-to-end MLOps workflows.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978900" y="3060700"/>
            <a:ext cx="33401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Advanced optimization capabilities and specialized hardware integration support.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9194800" y="4787900"/>
            <a:ext cx="31369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Native TPU support for accelerated training.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9194800" y="5410200"/>
            <a:ext cx="3136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Graph optimization for improved performance efficiency.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9194800" y="6286500"/>
            <a:ext cx="31369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Cross-platform deployment from cloud to edge.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25500" y="48387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825500" y="54610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825500" y="60833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4851400" y="48387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4851400" y="54610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4851400" y="60833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8877300" y="48387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8877300" y="54610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8877300" y="63373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117600"/>
            <a:ext cx="118237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1117600"/>
            <a:ext cx="37719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1117600"/>
            <a:ext cx="3771900" cy="5854700"/>
          </a:xfrm>
          <a:prstGeom prst="roundRect">
            <a:avLst>
              <a:gd name="adj" fmla="val 1683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927100" y="2959100"/>
            <a:ext cx="3340100" cy="3848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737100" y="1117600"/>
            <a:ext cx="37719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737100" y="1117600"/>
            <a:ext cx="3771900" cy="5854700"/>
          </a:xfrm>
          <a:prstGeom prst="roundRect">
            <a:avLst>
              <a:gd name="adj" fmla="val 1683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4953000" y="2959100"/>
            <a:ext cx="3340100" cy="3848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775700" y="1117600"/>
            <a:ext cx="37719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75700" y="1117600"/>
            <a:ext cx="3771900" cy="5854700"/>
          </a:xfrm>
          <a:prstGeom prst="roundRect">
            <a:avLst>
              <a:gd name="adj" fmla="val 1683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978900" y="2959100"/>
            <a:ext cx="3340100" cy="3848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927100" y="1282700"/>
            <a:ext cx="2616200" cy="1473200"/>
          </a:xfrm>
          <a:prstGeom prst="roundRect">
            <a:avLst>
              <a:gd name="adj" fmla="val 4310"/>
            </a:avLst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l="4000" r="4000"/>
          <a:stretch>
            <a:fillRect/>
          </a:stretch>
        </p:blipFill>
        <p:spPr>
          <a:xfrm>
            <a:off x="4953000" y="1282700"/>
            <a:ext cx="2616200" cy="1473200"/>
          </a:xfrm>
          <a:prstGeom prst="roundRect">
            <a:avLst>
              <a:gd name="adj" fmla="val 4310"/>
            </a:avLst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rcRect t="15000" b="15000"/>
          <a:stretch>
            <a:fillRect/>
          </a:stretch>
        </p:blipFill>
        <p:spPr>
          <a:xfrm>
            <a:off x="8978900" y="1282700"/>
            <a:ext cx="2616200" cy="1473200"/>
          </a:xfrm>
          <a:prstGeom prst="roundRect">
            <a:avLst>
              <a:gd name="adj" fmla="val 4310"/>
            </a:avLst>
          </a:prstGeom>
        </p:spPr>
      </p:pic>
      <p:sp>
        <p:nvSpPr>
          <p:cNvPr id="17" name="TextBox 17"/>
          <p:cNvSpPr txBox="1"/>
          <p:nvPr/>
        </p:nvSpPr>
        <p:spPr>
          <a:xfrm>
            <a:off x="711200" y="431800"/>
            <a:ext cx="11823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095F7C"/>
                </a:solidFill>
                <a:latin typeface="Poppins"/>
              </a:rPr>
              <a:t>PyTorch: Key Features and Capabilities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927100" y="3873500"/>
            <a:ext cx="33401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95F7C"/>
                </a:solidFill>
                <a:latin typeface="Poppins"/>
              </a:rPr>
              <a:t>Developer Experience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953000" y="4114800"/>
            <a:ext cx="33401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95F7C"/>
                </a:solidFill>
                <a:latin typeface="Poppins"/>
              </a:rPr>
              <a:t>Research Excellence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978900" y="3873500"/>
            <a:ext cx="33401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95F7C"/>
                </a:solidFill>
                <a:latin typeface="Poppins"/>
              </a:rPr>
              <a:t>Production Evolution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927100" y="2959100"/>
            <a:ext cx="33401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Intuitive development experience with Python-native design and dynamic execution.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30300" y="4635500"/>
            <a:ext cx="31369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Pythonic coding style for natural development workflow.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30300" y="5486400"/>
            <a:ext cx="31369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Dynamic computation graphs enable runtime modifications.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130300" y="6083300"/>
            <a:ext cx="31369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Seamless debugging with standard Python debugging tools.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4953000" y="2959100"/>
            <a:ext cx="3340100" cy="96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Optimized for rapid experimentation and iterative research development processes.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5156200" y="4584700"/>
            <a:ext cx="31369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Fast prototyping capabilities for experimental models.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5156200" y="5194300"/>
            <a:ext cx="31369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Strong adoption in academic research communities.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5156200" y="5791200"/>
            <a:ext cx="31369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Flexible architecture supports novel AI approaches.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978900" y="2959100"/>
            <a:ext cx="33401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Growing production capabilities with improved deployment and optimization tools.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9194800" y="4343400"/>
            <a:ext cx="31369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TorchScript enables model compilation and optimization.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9194800" y="4953000"/>
            <a:ext cx="31369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TorchServe provides scalable model serving solutions.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9194800" y="5549900"/>
            <a:ext cx="31369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ONNX support ensures broad deployment compatibility.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25500" y="4673600"/>
            <a:ext cx="2032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2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825500" y="5524500"/>
            <a:ext cx="2032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2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825500" y="6121400"/>
            <a:ext cx="2032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2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4851400" y="4622800"/>
            <a:ext cx="2032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2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4851400" y="5232400"/>
            <a:ext cx="2032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2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4851400" y="5829300"/>
            <a:ext cx="2032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2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8877300" y="4381500"/>
            <a:ext cx="2032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2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8877300" y="4991100"/>
            <a:ext cx="2032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2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8877300" y="5588000"/>
            <a:ext cx="2032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2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612900"/>
            <a:ext cx="11823700" cy="532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1612900"/>
            <a:ext cx="5778500" cy="532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1612900"/>
            <a:ext cx="5778500" cy="532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711200" y="4584700"/>
            <a:ext cx="5778500" cy="2362200"/>
          </a:xfrm>
          <a:prstGeom prst="roundRect">
            <a:avLst>
              <a:gd name="adj" fmla="val 2688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756400" y="1612900"/>
            <a:ext cx="5778500" cy="532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6756400" y="1612900"/>
            <a:ext cx="5778500" cy="532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6756400" y="4584700"/>
            <a:ext cx="5778500" cy="2362200"/>
          </a:xfrm>
          <a:prstGeom prst="roundRect">
            <a:avLst>
              <a:gd name="adj" fmla="val 2688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l="4000" r="4000"/>
          <a:stretch>
            <a:fillRect/>
          </a:stretch>
        </p:blipFill>
        <p:spPr>
          <a:xfrm>
            <a:off x="711200" y="1612900"/>
            <a:ext cx="4876800" cy="2743200"/>
          </a:xfrm>
          <a:prstGeom prst="roundRect">
            <a:avLst>
              <a:gd name="adj" fmla="val 2314"/>
            </a:avLst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7000" b="7000"/>
          <a:stretch>
            <a:fillRect/>
          </a:stretch>
        </p:blipFill>
        <p:spPr>
          <a:xfrm>
            <a:off x="6756400" y="1612900"/>
            <a:ext cx="4876800" cy="2743200"/>
          </a:xfrm>
          <a:prstGeom prst="roundRect">
            <a:avLst>
              <a:gd name="adj" fmla="val 2314"/>
            </a:avLst>
          </a:prstGeom>
        </p:spPr>
      </p:pic>
      <p:sp>
        <p:nvSpPr>
          <p:cNvPr id="13" name="TextBox 13"/>
          <p:cNvSpPr txBox="1"/>
          <p:nvPr/>
        </p:nvSpPr>
        <p:spPr>
          <a:xfrm>
            <a:off x="711200" y="469900"/>
            <a:ext cx="11823700" cy="825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95F7C"/>
                </a:solidFill>
                <a:latin typeface="Poppins"/>
              </a:rPr>
              <a:t>TensorFlow: Real-World Applications and Industry Impact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27100" y="4762500"/>
            <a:ext cx="53594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95F7C"/>
                </a:solidFill>
                <a:latin typeface="Poppins"/>
              </a:rPr>
              <a:t>Google's Core Products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972300" y="4762500"/>
            <a:ext cx="53594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95F7C"/>
                </a:solidFill>
                <a:latin typeface="Poppins"/>
              </a:rPr>
              <a:t>Enterprise Adoption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27100" y="5270500"/>
            <a:ext cx="53594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Google Translate processes billions of translations daily using advanced transformer models.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927100" y="5981700"/>
            <a:ext cx="53594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YouTube's recommendation system leverages TensorFlow for personalized content delivery algorithms.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972300" y="5270500"/>
            <a:ext cx="53594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Major corporations including Airbnb, Coca-Cola, and Twitter rely on TensorFlow infrastructure.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972300" y="5981700"/>
            <a:ext cx="53594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Production-grade deployments handle millions of daily predictions across diverse industry sectors.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676400"/>
            <a:ext cx="11823700" cy="524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1676400"/>
            <a:ext cx="5778500" cy="524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1676400"/>
            <a:ext cx="5778500" cy="524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711200" y="4749800"/>
            <a:ext cx="5778500" cy="2171700"/>
          </a:xfrm>
          <a:prstGeom prst="roundRect">
            <a:avLst>
              <a:gd name="adj" fmla="val 2923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756400" y="1676400"/>
            <a:ext cx="5778500" cy="524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6756400" y="1676400"/>
            <a:ext cx="5778500" cy="524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6756400" y="4749800"/>
            <a:ext cx="5778500" cy="2171700"/>
          </a:xfrm>
          <a:prstGeom prst="roundRect">
            <a:avLst>
              <a:gd name="adj" fmla="val 2923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t="13000" b="13000"/>
          <a:stretch>
            <a:fillRect/>
          </a:stretch>
        </p:blipFill>
        <p:spPr>
          <a:xfrm>
            <a:off x="711200" y="1676400"/>
            <a:ext cx="5054600" cy="2844800"/>
          </a:xfrm>
          <a:prstGeom prst="roundRect">
            <a:avLst>
              <a:gd name="adj" fmla="val 2232"/>
            </a:avLst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l="1000" r="1000"/>
          <a:stretch>
            <a:fillRect/>
          </a:stretch>
        </p:blipFill>
        <p:spPr>
          <a:xfrm>
            <a:off x="6756400" y="1676400"/>
            <a:ext cx="5054600" cy="2844800"/>
          </a:xfrm>
          <a:prstGeom prst="roundRect">
            <a:avLst>
              <a:gd name="adj" fmla="val 2232"/>
            </a:avLst>
          </a:prstGeom>
        </p:spPr>
      </p:pic>
      <p:sp>
        <p:nvSpPr>
          <p:cNvPr id="13" name="TextBox 13"/>
          <p:cNvSpPr txBox="1"/>
          <p:nvPr/>
        </p:nvSpPr>
        <p:spPr>
          <a:xfrm>
            <a:off x="711200" y="482600"/>
            <a:ext cx="11823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095F7C"/>
                </a:solidFill>
                <a:latin typeface="Poppins"/>
              </a:rPr>
              <a:t>PyTorch: Real-World Applications and Research Leadership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27100" y="4927600"/>
            <a:ext cx="53594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095F7C"/>
                </a:solidFill>
                <a:latin typeface="Poppins"/>
              </a:rPr>
              <a:t>Cutting-Edge Innovation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972300" y="4927600"/>
            <a:ext cx="53594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095F7C"/>
                </a:solidFill>
                <a:latin typeface="Poppins"/>
              </a:rPr>
              <a:t>Research Dominance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27100" y="5461000"/>
            <a:ext cx="53594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OpenAI's GPT models and advanced language systems built on PyTorch architecture.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927100" y="6197600"/>
            <a:ext cx="53594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Tesla's Autopilot system utilizes PyTorch for real-time computer vision processing.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972300" y="5461000"/>
            <a:ext cx="53594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80% of NeurIPS 2023 papers utilized PyTorch for model development and experimentation.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972300" y="6197600"/>
            <a:ext cx="53594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Leading research institutions prefer PyTorch for NLP and Computer Vision breakthroughs.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2057400"/>
            <a:ext cx="6896100" cy="4457700"/>
          </a:xfrm>
          <a:prstGeom prst="roundRect">
            <a:avLst>
              <a:gd name="adj" fmla="val 1424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128000" y="1651000"/>
            <a:ext cx="4419600" cy="527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128000" y="1651000"/>
            <a:ext cx="4419600" cy="2540000"/>
          </a:xfrm>
          <a:prstGeom prst="roundRect">
            <a:avLst>
              <a:gd name="adj" fmla="val 2500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0033000" y="1841500"/>
            <a:ext cx="609600" cy="520700"/>
          </a:xfrm>
          <a:prstGeom prst="roundRect">
            <a:avLst>
              <a:gd name="adj" fmla="val 50000"/>
            </a:avLst>
          </a:prstGeom>
          <a:solidFill>
            <a:srgbClr val="095F7C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8128000" y="4381500"/>
            <a:ext cx="4419600" cy="2540000"/>
          </a:xfrm>
          <a:prstGeom prst="roundRect">
            <a:avLst>
              <a:gd name="adj" fmla="val 2500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033000" y="4572000"/>
            <a:ext cx="609600" cy="520700"/>
          </a:xfrm>
          <a:prstGeom prst="roundRect">
            <a:avLst>
              <a:gd name="adj" fmla="val 50000"/>
            </a:avLst>
          </a:prstGeom>
          <a:solidFill>
            <a:srgbClr val="095F7C"/>
          </a:solidFill>
        </p:spPr>
        <p:txBody>
          <a:bodyPr/>
          <a:lstStyle/>
          <a:p>
            <a:endParaRPr 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723900" y="2070100"/>
            <a:ext cx="6883400" cy="4445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11200" y="482600"/>
            <a:ext cx="118237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95F7C"/>
                </a:solidFill>
                <a:latin typeface="Poppins"/>
              </a:rPr>
              <a:t>Comparative Analysis: Framework Performance and Adoption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343900" y="2552700"/>
            <a:ext cx="40005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700" b="1">
                <a:solidFill>
                  <a:srgbClr val="095F7C"/>
                </a:solidFill>
                <a:latin typeface="Poppins"/>
              </a:rPr>
              <a:t>Usage Distribution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343900" y="5283200"/>
            <a:ext cx="40005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700" b="1">
                <a:solidFill>
                  <a:srgbClr val="095F7C"/>
                </a:solidFill>
                <a:latin typeface="Poppins"/>
              </a:rPr>
              <a:t>Performance Trade-offs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343900" y="2959100"/>
            <a:ext cx="4000500" cy="105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TensorFlow leads in industry deployment while PyTorch dominates research environments with distinct user preferences.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343900" y="5689600"/>
            <a:ext cx="4000500" cy="105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PyTorch shows 25% faster training times while TensorFlow excels in large-scale production optimization scenarios.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 t="10000" b="10000"/>
          <a:stretch>
            <a:fillRect/>
          </a:stretch>
        </p:blipFill>
        <p:spPr>
          <a:xfrm>
            <a:off x="10210800" y="2019300"/>
            <a:ext cx="254000" cy="203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236200" y="4749800"/>
            <a:ext cx="2032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600200"/>
            <a:ext cx="11823700" cy="137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1600200"/>
            <a:ext cx="11823700" cy="1371600"/>
          </a:xfrm>
          <a:prstGeom prst="roundRect">
            <a:avLst>
              <a:gd name="adj" fmla="val 4629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3175000"/>
            <a:ext cx="11823700" cy="3771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723900" y="3175000"/>
            <a:ext cx="2184400" cy="368300"/>
          </a:xfrm>
          <a:prstGeom prst="rect">
            <a:avLst/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2908300" y="3175000"/>
            <a:ext cx="4305300" cy="368300"/>
          </a:xfrm>
          <a:prstGeom prst="rect">
            <a:avLst/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7213600" y="3175000"/>
            <a:ext cx="4025900" cy="368300"/>
          </a:xfrm>
          <a:prstGeom prst="rect">
            <a:avLst/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1239500" y="3175000"/>
            <a:ext cx="1295400" cy="368300"/>
          </a:xfrm>
          <a:prstGeom prst="rect">
            <a:avLst/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723900" y="3556000"/>
            <a:ext cx="2184400" cy="622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2908300" y="3556000"/>
            <a:ext cx="4305300" cy="622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7213600" y="3556000"/>
            <a:ext cx="4025900" cy="622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1239500" y="3556000"/>
            <a:ext cx="1295400" cy="622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723900" y="4191000"/>
            <a:ext cx="21844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2908300" y="4191000"/>
            <a:ext cx="43053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7213600" y="4191000"/>
            <a:ext cx="40259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11239500" y="4191000"/>
            <a:ext cx="12954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723900" y="4559300"/>
            <a:ext cx="2184400" cy="622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2908300" y="4559300"/>
            <a:ext cx="4305300" cy="622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7213600" y="4559300"/>
            <a:ext cx="4025900" cy="622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11239500" y="4559300"/>
            <a:ext cx="1295400" cy="622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723900" y="5194300"/>
            <a:ext cx="21844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2908300" y="5194300"/>
            <a:ext cx="43053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7213600" y="5194300"/>
            <a:ext cx="40259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11239500" y="5194300"/>
            <a:ext cx="12954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>
            <a:off x="723900" y="5562600"/>
            <a:ext cx="21844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2908300" y="5562600"/>
            <a:ext cx="43053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>
            <a:off x="7213600" y="5562600"/>
            <a:ext cx="40259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>
            <a:off x="11239500" y="5562600"/>
            <a:ext cx="12954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>
            <a:off x="723900" y="5943600"/>
            <a:ext cx="2184400" cy="622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>
            <a:off x="2908300" y="5943600"/>
            <a:ext cx="4305300" cy="622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7213600" y="5943600"/>
            <a:ext cx="4025900" cy="622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>
            <a:off x="11239500" y="5943600"/>
            <a:ext cx="1295400" cy="622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>
            <a:off x="723900" y="6565900"/>
            <a:ext cx="21844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>
            <a:off x="2908300" y="6565900"/>
            <a:ext cx="43053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>
            <a:off x="7213600" y="6565900"/>
            <a:ext cx="40259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>
            <a:off x="11239500" y="6565900"/>
            <a:ext cx="12954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711200" y="469900"/>
            <a:ext cx="11823700" cy="825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95F7C"/>
                </a:solidFill>
                <a:latin typeface="Poppins"/>
              </a:rPr>
              <a:t>Detailed Framework Comparison: TensorFlow vs PyTorch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927100" y="1778000"/>
            <a:ext cx="11391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95F7C"/>
                </a:solidFill>
                <a:latin typeface="Poppins"/>
              </a:rPr>
              <a:t>Comprehensive Feature Analysis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927100" y="2286000"/>
            <a:ext cx="113919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Side-by-side comparison of key characteristics, performance metrics, and adoption patterns to guide framework selection for specific project requirements and organizational needs.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787400" y="3238500"/>
            <a:ext cx="2044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Criteria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2971800" y="3238500"/>
            <a:ext cx="41656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TensorFlow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7277100" y="3238500"/>
            <a:ext cx="38862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PyTorch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11315700" y="3238500"/>
            <a:ext cx="1155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Winner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787400" y="3606800"/>
            <a:ext cx="2044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Usability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2971800" y="3606800"/>
            <a:ext cx="41656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Moderate learning curve, Keras integration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7277100" y="3606800"/>
            <a:ext cx="38862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Intuitive, Pythonic design</a:t>
            </a:r>
            <a:endParaRPr lang="en-US" sz="1100"/>
          </a:p>
        </p:txBody>
      </p:sp>
      <p:sp>
        <p:nvSpPr>
          <p:cNvPr id="49" name="TextBox 49"/>
          <p:cNvSpPr txBox="1"/>
          <p:nvPr/>
        </p:nvSpPr>
        <p:spPr>
          <a:xfrm>
            <a:off x="11315700" y="3606800"/>
            <a:ext cx="1155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PyTorch</a:t>
            </a:r>
            <a:endParaRPr lang="en-US" sz="1100"/>
          </a:p>
        </p:txBody>
      </p:sp>
      <p:sp>
        <p:nvSpPr>
          <p:cNvPr id="50" name="TextBox 50"/>
          <p:cNvSpPr txBox="1"/>
          <p:nvPr/>
        </p:nvSpPr>
        <p:spPr>
          <a:xfrm>
            <a:off x="787400" y="4241800"/>
            <a:ext cx="2044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Performance</a:t>
            </a:r>
            <a:endParaRPr lang="en-US" sz="1100"/>
          </a:p>
        </p:txBody>
      </p:sp>
      <p:sp>
        <p:nvSpPr>
          <p:cNvPr id="51" name="TextBox 51"/>
          <p:cNvSpPr txBox="1"/>
          <p:nvPr/>
        </p:nvSpPr>
        <p:spPr>
          <a:xfrm>
            <a:off x="2971800" y="4241800"/>
            <a:ext cx="41656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Optimized for large-scale production</a:t>
            </a:r>
            <a:endParaRPr lang="en-US" sz="1100"/>
          </a:p>
        </p:txBody>
      </p:sp>
      <p:sp>
        <p:nvSpPr>
          <p:cNvPr id="52" name="TextBox 52"/>
          <p:cNvSpPr txBox="1"/>
          <p:nvPr/>
        </p:nvSpPr>
        <p:spPr>
          <a:xfrm>
            <a:off x="7277100" y="4241800"/>
            <a:ext cx="38862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Faster training, lower overhead</a:t>
            </a:r>
            <a:endParaRPr lang="en-US" sz="1100"/>
          </a:p>
        </p:txBody>
      </p:sp>
      <p:sp>
        <p:nvSpPr>
          <p:cNvPr id="53" name="TextBox 53"/>
          <p:cNvSpPr txBox="1"/>
          <p:nvPr/>
        </p:nvSpPr>
        <p:spPr>
          <a:xfrm>
            <a:off x="11315700" y="4241800"/>
            <a:ext cx="1155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Mixed</a:t>
            </a:r>
            <a:endParaRPr lang="en-US" sz="1100"/>
          </a:p>
        </p:txBody>
      </p:sp>
      <p:sp>
        <p:nvSpPr>
          <p:cNvPr id="54" name="TextBox 54"/>
          <p:cNvSpPr txBox="1"/>
          <p:nvPr/>
        </p:nvSpPr>
        <p:spPr>
          <a:xfrm>
            <a:off x="787400" y="4622800"/>
            <a:ext cx="2044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Deployment</a:t>
            </a:r>
            <a:endParaRPr lang="en-US" sz="1100"/>
          </a:p>
        </p:txBody>
      </p:sp>
      <p:sp>
        <p:nvSpPr>
          <p:cNvPr id="55" name="TextBox 55"/>
          <p:cNvSpPr txBox="1"/>
          <p:nvPr/>
        </p:nvSpPr>
        <p:spPr>
          <a:xfrm>
            <a:off x="2971800" y="4622800"/>
            <a:ext cx="41656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Mature ecosystem (TF Serving, TF Lite)</a:t>
            </a:r>
            <a:endParaRPr lang="en-US" sz="1100"/>
          </a:p>
        </p:txBody>
      </p:sp>
      <p:sp>
        <p:nvSpPr>
          <p:cNvPr id="56" name="TextBox 56"/>
          <p:cNvSpPr txBox="1"/>
          <p:nvPr/>
        </p:nvSpPr>
        <p:spPr>
          <a:xfrm>
            <a:off x="7277100" y="4622800"/>
            <a:ext cx="38862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Growing tools (TorchScript, TorchServe)</a:t>
            </a:r>
            <a:endParaRPr lang="en-US" sz="1100"/>
          </a:p>
        </p:txBody>
      </p:sp>
      <p:sp>
        <p:nvSpPr>
          <p:cNvPr id="57" name="TextBox 57"/>
          <p:cNvSpPr txBox="1"/>
          <p:nvPr/>
        </p:nvSpPr>
        <p:spPr>
          <a:xfrm>
            <a:off x="11315700" y="4622800"/>
            <a:ext cx="1155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TensorFlow</a:t>
            </a:r>
            <a:endParaRPr lang="en-US" sz="1100"/>
          </a:p>
        </p:txBody>
      </p:sp>
      <p:sp>
        <p:nvSpPr>
          <p:cNvPr id="58" name="TextBox 58"/>
          <p:cNvSpPr txBox="1"/>
          <p:nvPr/>
        </p:nvSpPr>
        <p:spPr>
          <a:xfrm>
            <a:off x="787400" y="5245100"/>
            <a:ext cx="2044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Research Adoption</a:t>
            </a:r>
            <a:endParaRPr lang="en-US" sz="1100"/>
          </a:p>
        </p:txBody>
      </p:sp>
      <p:sp>
        <p:nvSpPr>
          <p:cNvPr id="59" name="TextBox 59"/>
          <p:cNvSpPr txBox="1"/>
          <p:nvPr/>
        </p:nvSpPr>
        <p:spPr>
          <a:xfrm>
            <a:off x="2971800" y="5245100"/>
            <a:ext cx="41656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20% of recent papers</a:t>
            </a:r>
            <a:endParaRPr lang="en-US" sz="1100"/>
          </a:p>
        </p:txBody>
      </p:sp>
      <p:sp>
        <p:nvSpPr>
          <p:cNvPr id="60" name="TextBox 60"/>
          <p:cNvSpPr txBox="1"/>
          <p:nvPr/>
        </p:nvSpPr>
        <p:spPr>
          <a:xfrm>
            <a:off x="7277100" y="5245100"/>
            <a:ext cx="38862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80% of NeurIPS 2023 papers</a:t>
            </a:r>
            <a:endParaRPr lang="en-US" sz="1100"/>
          </a:p>
        </p:txBody>
      </p:sp>
      <p:sp>
        <p:nvSpPr>
          <p:cNvPr id="61" name="TextBox 61"/>
          <p:cNvSpPr txBox="1"/>
          <p:nvPr/>
        </p:nvSpPr>
        <p:spPr>
          <a:xfrm>
            <a:off x="11315700" y="5245100"/>
            <a:ext cx="1155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PyTorch</a:t>
            </a:r>
            <a:endParaRPr lang="en-US" sz="1100"/>
          </a:p>
        </p:txBody>
      </p:sp>
      <p:sp>
        <p:nvSpPr>
          <p:cNvPr id="62" name="TextBox 62"/>
          <p:cNvSpPr txBox="1"/>
          <p:nvPr/>
        </p:nvSpPr>
        <p:spPr>
          <a:xfrm>
            <a:off x="787400" y="5626100"/>
            <a:ext cx="2044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Industry Usage</a:t>
            </a:r>
            <a:endParaRPr lang="en-US" sz="1100"/>
          </a:p>
        </p:txBody>
      </p:sp>
      <p:sp>
        <p:nvSpPr>
          <p:cNvPr id="63" name="TextBox 63"/>
          <p:cNvSpPr txBox="1"/>
          <p:nvPr/>
        </p:nvSpPr>
        <p:spPr>
          <a:xfrm>
            <a:off x="2971800" y="5626100"/>
            <a:ext cx="41656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55% enterprise adoption</a:t>
            </a:r>
            <a:endParaRPr lang="en-US" sz="1100"/>
          </a:p>
        </p:txBody>
      </p:sp>
      <p:sp>
        <p:nvSpPr>
          <p:cNvPr id="64" name="TextBox 64"/>
          <p:cNvSpPr txBox="1"/>
          <p:nvPr/>
        </p:nvSpPr>
        <p:spPr>
          <a:xfrm>
            <a:off x="7277100" y="5626100"/>
            <a:ext cx="38862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45% enterprise adoption</a:t>
            </a:r>
            <a:endParaRPr lang="en-US" sz="1100"/>
          </a:p>
        </p:txBody>
      </p:sp>
      <p:sp>
        <p:nvSpPr>
          <p:cNvPr id="65" name="TextBox 65"/>
          <p:cNvSpPr txBox="1"/>
          <p:nvPr/>
        </p:nvSpPr>
        <p:spPr>
          <a:xfrm>
            <a:off x="11315700" y="5626100"/>
            <a:ext cx="1155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TensorFlow</a:t>
            </a:r>
            <a:endParaRPr lang="en-US" sz="1100"/>
          </a:p>
        </p:txBody>
      </p:sp>
      <p:sp>
        <p:nvSpPr>
          <p:cNvPr id="66" name="TextBox 66"/>
          <p:cNvSpPr txBox="1"/>
          <p:nvPr/>
        </p:nvSpPr>
        <p:spPr>
          <a:xfrm>
            <a:off x="787400" y="5994400"/>
            <a:ext cx="20447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Community Support</a:t>
            </a:r>
            <a:endParaRPr lang="en-US" sz="1100"/>
          </a:p>
        </p:txBody>
      </p:sp>
      <p:sp>
        <p:nvSpPr>
          <p:cNvPr id="67" name="TextBox 67"/>
          <p:cNvSpPr txBox="1"/>
          <p:nvPr/>
        </p:nvSpPr>
        <p:spPr>
          <a:xfrm>
            <a:off x="2971800" y="5994400"/>
            <a:ext cx="41656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Large, established ecosystem</a:t>
            </a:r>
            <a:endParaRPr lang="en-US" sz="1100"/>
          </a:p>
        </p:txBody>
      </p:sp>
      <p:sp>
        <p:nvSpPr>
          <p:cNvPr id="68" name="TextBox 68"/>
          <p:cNvSpPr txBox="1"/>
          <p:nvPr/>
        </p:nvSpPr>
        <p:spPr>
          <a:xfrm>
            <a:off x="7277100" y="5994400"/>
            <a:ext cx="38862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Rapidly growing, research-focused</a:t>
            </a:r>
            <a:endParaRPr lang="en-US" sz="1100"/>
          </a:p>
        </p:txBody>
      </p:sp>
      <p:sp>
        <p:nvSpPr>
          <p:cNvPr id="69" name="TextBox 69"/>
          <p:cNvSpPr txBox="1"/>
          <p:nvPr/>
        </p:nvSpPr>
        <p:spPr>
          <a:xfrm>
            <a:off x="11315700" y="5994400"/>
            <a:ext cx="1155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Tie</a:t>
            </a:r>
            <a:endParaRPr lang="en-US" sz="1100"/>
          </a:p>
        </p:txBody>
      </p:sp>
      <p:sp>
        <p:nvSpPr>
          <p:cNvPr id="70" name="TextBox 70"/>
          <p:cNvSpPr txBox="1"/>
          <p:nvPr/>
        </p:nvSpPr>
        <p:spPr>
          <a:xfrm>
            <a:off x="787400" y="6629400"/>
            <a:ext cx="2044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Scalability</a:t>
            </a:r>
            <a:endParaRPr lang="en-US" sz="1100"/>
          </a:p>
        </p:txBody>
      </p:sp>
      <p:sp>
        <p:nvSpPr>
          <p:cNvPr id="71" name="TextBox 71"/>
          <p:cNvSpPr txBox="1"/>
          <p:nvPr/>
        </p:nvSpPr>
        <p:spPr>
          <a:xfrm>
            <a:off x="2971800" y="6629400"/>
            <a:ext cx="41656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Excellent TPU support, distributed</a:t>
            </a:r>
            <a:endParaRPr lang="en-US" sz="1100"/>
          </a:p>
        </p:txBody>
      </p:sp>
      <p:sp>
        <p:nvSpPr>
          <p:cNvPr id="72" name="TextBox 72"/>
          <p:cNvSpPr txBox="1"/>
          <p:nvPr/>
        </p:nvSpPr>
        <p:spPr>
          <a:xfrm>
            <a:off x="7277100" y="6629400"/>
            <a:ext cx="38862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Good multi-GPU, improving</a:t>
            </a:r>
            <a:endParaRPr lang="en-US" sz="1100"/>
          </a:p>
        </p:txBody>
      </p:sp>
      <p:sp>
        <p:nvSpPr>
          <p:cNvPr id="73" name="TextBox 73"/>
          <p:cNvSpPr txBox="1"/>
          <p:nvPr/>
        </p:nvSpPr>
        <p:spPr>
          <a:xfrm>
            <a:off x="11315700" y="6629400"/>
            <a:ext cx="1155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TensorFlow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181100"/>
            <a:ext cx="118237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1181100"/>
            <a:ext cx="11823700" cy="1358900"/>
          </a:xfrm>
          <a:prstGeom prst="roundRect">
            <a:avLst>
              <a:gd name="adj" fmla="val 4672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11200" y="2743200"/>
            <a:ext cx="11823700" cy="254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711200" y="2743200"/>
            <a:ext cx="5803900" cy="2540000"/>
          </a:xfrm>
          <a:prstGeom prst="roundRect">
            <a:avLst>
              <a:gd name="adj" fmla="val 2500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731000" y="2743200"/>
            <a:ext cx="5803900" cy="2540000"/>
          </a:xfrm>
          <a:prstGeom prst="roundRect">
            <a:avLst>
              <a:gd name="adj" fmla="val 2500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711200" y="5435600"/>
            <a:ext cx="118237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711200" y="5435600"/>
            <a:ext cx="3797300" cy="1511300"/>
          </a:xfrm>
          <a:prstGeom prst="roundRect">
            <a:avLst>
              <a:gd name="adj" fmla="val 4201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4724400" y="5435600"/>
            <a:ext cx="3797300" cy="1511300"/>
          </a:xfrm>
          <a:prstGeom prst="roundRect">
            <a:avLst>
              <a:gd name="adj" fmla="val 4201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37600" y="5435600"/>
            <a:ext cx="3797300" cy="1511300"/>
          </a:xfrm>
          <a:prstGeom prst="roundRect">
            <a:avLst>
              <a:gd name="adj" fmla="val 4201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711200" y="469900"/>
            <a:ext cx="118237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00" b="1">
                <a:solidFill>
                  <a:srgbClr val="095F7C"/>
                </a:solidFill>
                <a:latin typeface="Poppins"/>
              </a:rPr>
              <a:t>Conclusion: Framework Selection Recommendations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27100" y="1358900"/>
            <a:ext cx="11391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95F7C"/>
                </a:solidFill>
                <a:latin typeface="Poppins"/>
              </a:rPr>
              <a:t>No Absolute Winner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927100" y="2921000"/>
            <a:ext cx="53848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095F7C"/>
                </a:solidFill>
                <a:latin typeface="Poppins"/>
              </a:rPr>
              <a:t>Choose PyTorch For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46900" y="2921000"/>
            <a:ext cx="53848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095F7C"/>
                </a:solidFill>
                <a:latin typeface="Poppins"/>
              </a:rPr>
              <a:t>Choose TensorFlow For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927100" y="5613400"/>
            <a:ext cx="33782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095F7C"/>
                </a:solidFill>
                <a:latin typeface="Poppins"/>
              </a:rPr>
              <a:t>Future Outlook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940300" y="5613400"/>
            <a:ext cx="33782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095F7C"/>
                </a:solidFill>
                <a:latin typeface="Poppins"/>
              </a:rPr>
              <a:t>Industry Trend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953500" y="5613400"/>
            <a:ext cx="33782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095F7C"/>
                </a:solidFill>
                <a:latin typeface="Poppins"/>
              </a:rPr>
              <a:t>Recommendation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27100" y="1866900"/>
            <a:ext cx="113919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Both TensorFlow and PyTorch excel in different scenarios, with choice depending on specific project requirements, team expertise, and organizational priorities rather than universal superiority.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30300" y="3314700"/>
            <a:ext cx="51689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Academic research and rapid prototyping projects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30300" y="3962400"/>
            <a:ext cx="51689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Teams prioritizing development speed and flexibility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30300" y="4597400"/>
            <a:ext cx="51689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Projects requiring frequent model architecture experimentation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7150100" y="3314700"/>
            <a:ext cx="51689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Large-scale production deployments and enterprise solutions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7150100" y="3962400"/>
            <a:ext cx="51689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Projects requiring extensive mobile or edge deployment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7150100" y="4597400"/>
            <a:ext cx="51689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Organizations with established MLOps infrastructure needs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927100" y="6007100"/>
            <a:ext cx="3378200" cy="762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Both frameworks continue evolving toward feature convergence.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4940300" y="6007100"/>
            <a:ext cx="3378200" cy="762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Multi-framework compatibility increasingly becoming the standard practice.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953500" y="6007100"/>
            <a:ext cx="33782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Learn both frameworks to maximize career opportunities.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25500" y="33655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825500" y="40005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825500" y="46482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6845300" y="33655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845300" y="40005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6845300" y="4648200"/>
            <a:ext cx="2032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11200" y="1270000"/>
            <a:ext cx="11823700" cy="565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11200" y="1270000"/>
            <a:ext cx="5803900" cy="5651500"/>
          </a:xfrm>
          <a:prstGeom prst="roundRect">
            <a:avLst>
              <a:gd name="adj" fmla="val 1123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6731000" y="1270000"/>
            <a:ext cx="5803900" cy="5651500"/>
          </a:xfrm>
          <a:prstGeom prst="roundRect">
            <a:avLst>
              <a:gd name="adj" fmla="val 1123"/>
            </a:avLst>
          </a:prstGeom>
          <a:solidFill>
            <a:srgbClr val="70B7C1"/>
          </a:solidFill>
          <a:ln w="12700">
            <a:solidFill>
              <a:srgbClr val="15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11200" y="495300"/>
            <a:ext cx="11823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095F7C"/>
                </a:solidFill>
                <a:latin typeface="Poppins"/>
              </a:rPr>
              <a:t>References and Sources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927100" y="1460500"/>
            <a:ext cx="538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095F7C"/>
                </a:solidFill>
                <a:latin typeface="Poppins"/>
              </a:rPr>
              <a:t>Academic and Research Sources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946900" y="1460500"/>
            <a:ext cx="538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095F7C"/>
                </a:solidFill>
                <a:latin typeface="Poppins"/>
              </a:rPr>
              <a:t>Industry Reports and Analytics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927100" y="1993900"/>
            <a:ext cx="5384800" cy="109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Peer-reviewed publications and official documentation providing authoritative insights into framework capabilities, performance benchmarks, and adoption trends.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3302000"/>
            <a:ext cx="51689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Alawi, Z. B. (2025). A Comparative Survey of PyTorch vs TensorFlow for Deep Learning. ArXiv preprint.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4254500"/>
            <a:ext cx="51689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TensorFlow Official Documentation (2025). Google AI Platform and TensorFlow Developer Resources.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130300" y="5219700"/>
            <a:ext cx="51689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PyTorch Official Documentation (2025). Meta AI Research and PyTorch Community Guidelines.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30300" y="5905500"/>
            <a:ext cx="51689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NeurIPS 2023 Conference Proceedings. Framework adoption analysis in recent machine learning publications.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946900" y="1993900"/>
            <a:ext cx="53848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Professional analyses from technology organizations and surveys providing real-world usage statistics and enterprise adoption patterns.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150100" y="3022600"/>
            <a:ext cx="51689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Stack Overflow Developer Survey (2023). Framework usage statistics among professional developers worldwide.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150100" y="3987800"/>
            <a:ext cx="51689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Kaggle Machine Learning Survey (2024). Practitioner preferences and framework selection criteria analysis.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7150100" y="4940300"/>
            <a:ext cx="51689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Viso.ai Deep Learning Framework Analysis (2025). Comprehensive comparison of PyTorch vs TensorFlow capabilities.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150100" y="5905500"/>
            <a:ext cx="51689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OpenCV Foundation Blog (2024). Performance benchmarks and scalability analysis for AI frameworks.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25500" y="3340100"/>
            <a:ext cx="2032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25500" y="4305300"/>
            <a:ext cx="2032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25500" y="5270500"/>
            <a:ext cx="2032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25500" y="5956300"/>
            <a:ext cx="2032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845300" y="3073400"/>
            <a:ext cx="2032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845300" y="4025900"/>
            <a:ext cx="2032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845300" y="4991100"/>
            <a:ext cx="2032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6845300" y="5956300"/>
            <a:ext cx="2032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3208000" cy="74295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3208000" cy="7429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2000" b="22000"/>
          <a:stretch>
            <a:fillRect/>
          </a:stretch>
        </p:blipFill>
        <p:spPr>
          <a:xfrm>
            <a:off x="0" y="0"/>
            <a:ext cx="13208000" cy="7429500"/>
          </a:xfrm>
          <a:prstGeom prst="roundRect">
            <a:avLst>
              <a:gd name="adj" fmla="val 2735"/>
            </a:avLst>
          </a:prstGeom>
        </p:spPr>
      </p:pic>
      <p:sp>
        <p:nvSpPr>
          <p:cNvPr id="5" name="TextBox 5"/>
          <p:cNvSpPr txBox="1"/>
          <p:nvPr/>
        </p:nvSpPr>
        <p:spPr>
          <a:xfrm>
            <a:off x="711200" y="2552700"/>
            <a:ext cx="11823700" cy="762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000" b="1">
                <a:solidFill>
                  <a:srgbClr val="000000"/>
                </a:solidFill>
                <a:latin typeface="Poppins"/>
              </a:rPr>
              <a:t>Thank You For Your Attention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711200" y="3327400"/>
            <a:ext cx="11823700" cy="152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1600" b="1" dirty="0">
                <a:solidFill>
                  <a:srgbClr val="000000"/>
                </a:solidFill>
                <a:latin typeface="Poppins"/>
              </a:rPr>
              <a:t>Questions and Discussion Welcome | Contact: AI </a:t>
            </a:r>
            <a:r>
              <a:rPr lang="en-US" sz="1600" b="1" dirty="0" err="1">
                <a:solidFill>
                  <a:srgbClr val="000000"/>
                </a:solidFill>
                <a:latin typeface="Poppins"/>
              </a:rPr>
              <a:t>AIchemists</a:t>
            </a:r>
            <a:r>
              <a:rPr lang="en-US" sz="1600" b="1" dirty="0">
                <a:solidFill>
                  <a:srgbClr val="000000"/>
                </a:solidFill>
                <a:latin typeface="Poppins"/>
              </a:rPr>
              <a:t> Team - Ruben Valenzuela, Daedra </a:t>
            </a:r>
            <a:r>
              <a:rPr lang="en-US" sz="1600" b="1" dirty="0" err="1">
                <a:solidFill>
                  <a:srgbClr val="000000"/>
                </a:solidFill>
                <a:latin typeface="Poppins"/>
              </a:rPr>
              <a:t>Minigan</a:t>
            </a:r>
            <a:r>
              <a:rPr lang="en-US" sz="1600" b="1" dirty="0">
                <a:solidFill>
                  <a:srgbClr val="000000"/>
                </a:solidFill>
                <a:latin typeface="Poppins"/>
              </a:rPr>
              <a:t>, Benjamin LaCount II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1240</Words>
  <Application>Microsoft Office PowerPoint</Application>
  <PresentationFormat>Custom</PresentationFormat>
  <Paragraphs>184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ruben dario valenzuela colina</cp:lastModifiedBy>
  <cp:revision>2</cp:revision>
  <dcterms:created xsi:type="dcterms:W3CDTF">2006-08-16T00:00:00Z</dcterms:created>
  <dcterms:modified xsi:type="dcterms:W3CDTF">2025-09-10T19:52:50Z</dcterms:modified>
</cp:coreProperties>
</file>